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234440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165506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2075688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2496312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2916936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3337560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0" y="375818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9" name="Shape 7"/>
          <p:cNvSpPr/>
          <p:nvPr/>
        </p:nvSpPr>
        <p:spPr>
          <a:xfrm>
            <a:off x="7370064" y="1234440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10" name="Shape 8"/>
          <p:cNvSpPr/>
          <p:nvPr/>
        </p:nvSpPr>
        <p:spPr>
          <a:xfrm>
            <a:off x="7370064" y="1655064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7370064" y="2075688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70064" y="2496312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0064" y="2916936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70064" y="3337560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70064" y="375818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90688" y="1234440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90688" y="165506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90688" y="2075688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90688" y="2496312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90688" y="2916936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90688" y="3337560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90688" y="3758184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Shape 21"/>
          <p:cNvSpPr/>
          <p:nvPr/>
        </p:nvSpPr>
        <p:spPr>
          <a:xfrm>
            <a:off x="8211312" y="1234440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4" name="Shape 22"/>
          <p:cNvSpPr/>
          <p:nvPr/>
        </p:nvSpPr>
        <p:spPr>
          <a:xfrm>
            <a:off x="8211312" y="165506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5" name="Shape 23"/>
          <p:cNvSpPr/>
          <p:nvPr/>
        </p:nvSpPr>
        <p:spPr>
          <a:xfrm>
            <a:off x="8211312" y="2075688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6" name="Shape 24"/>
          <p:cNvSpPr/>
          <p:nvPr/>
        </p:nvSpPr>
        <p:spPr>
          <a:xfrm>
            <a:off x="8211312" y="2496312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8211312" y="2916936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8" name="Shape 26"/>
          <p:cNvSpPr/>
          <p:nvPr/>
        </p:nvSpPr>
        <p:spPr>
          <a:xfrm>
            <a:off x="8211312" y="3337560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1312" y="375818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30" name="Shape 28"/>
          <p:cNvSpPr/>
          <p:nvPr/>
        </p:nvSpPr>
        <p:spPr>
          <a:xfrm>
            <a:off x="8631936" y="1234440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>
            <a:off x="8631936" y="165506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8631936" y="2075688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33" name="Shape 31"/>
          <p:cNvSpPr/>
          <p:nvPr/>
        </p:nvSpPr>
        <p:spPr>
          <a:xfrm>
            <a:off x="8631936" y="2496312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34" name="Shape 32"/>
          <p:cNvSpPr/>
          <p:nvPr/>
        </p:nvSpPr>
        <p:spPr>
          <a:xfrm>
            <a:off x="8631936" y="2916936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8631936" y="3337560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36" name="Shape 34"/>
          <p:cNvSpPr/>
          <p:nvPr/>
        </p:nvSpPr>
        <p:spPr>
          <a:xfrm>
            <a:off x="8631936" y="3758184"/>
            <a:ext cx="347472" cy="347472"/>
          </a:xfrm>
          <a:prstGeom prst="rect">
            <a:avLst/>
          </a:prstGeom>
          <a:solidFill>
            <a:srgbClr val="1D331F"/>
          </a:solidFill>
          <a:ln/>
        </p:spPr>
      </p:sp>
      <p:sp>
        <p:nvSpPr>
          <p:cNvPr id="37" name="Shape 35"/>
          <p:cNvSpPr/>
          <p:nvPr/>
        </p:nvSpPr>
        <p:spPr>
          <a:xfrm>
            <a:off x="7370064" y="2075688"/>
            <a:ext cx="347472" cy="347472"/>
          </a:xfrm>
          <a:prstGeom prst="ellipse">
            <a:avLst/>
          </a:prstGeom>
          <a:solidFill>
            <a:srgbClr val="64B4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790688" y="2916936"/>
            <a:ext cx="347472" cy="347472"/>
          </a:xfrm>
          <a:prstGeom prst="ellipse">
            <a:avLst/>
          </a:prstGeom>
          <a:solidFill>
            <a:srgbClr val="FF5A5A"/>
          </a:solidFill>
          <a:ln/>
        </p:spPr>
      </p:sp>
      <p:sp>
        <p:nvSpPr>
          <p:cNvPr id="39" name="Shape 37"/>
          <p:cNvSpPr/>
          <p:nvPr/>
        </p:nvSpPr>
        <p:spPr>
          <a:xfrm>
            <a:off x="6949440" y="3337560"/>
            <a:ext cx="347472" cy="347472"/>
          </a:xfrm>
          <a:prstGeom prst="ellipse">
            <a:avLst/>
          </a:prstGeom>
          <a:solidFill>
            <a:srgbClr val="2EB82E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" y="1078992"/>
            <a:ext cx="182880" cy="182880"/>
          </a:xfrm>
          <a:prstGeom prst="ellipse">
            <a:avLst/>
          </a:prstGeom>
          <a:solidFill>
            <a:srgbClr val="2EB82E"/>
          </a:solidFill>
          <a:ln/>
        </p:spPr>
      </p:sp>
      <p:sp>
        <p:nvSpPr>
          <p:cNvPr id="41" name="Shape 39"/>
          <p:cNvSpPr/>
          <p:nvPr/>
        </p:nvSpPr>
        <p:spPr>
          <a:xfrm>
            <a:off x="813816" y="1078992"/>
            <a:ext cx="182880" cy="182880"/>
          </a:xfrm>
          <a:prstGeom prst="ellipse">
            <a:avLst/>
          </a:prstGeom>
          <a:solidFill>
            <a:srgbClr val="64B4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0704" y="1078992"/>
            <a:ext cx="182880" cy="182880"/>
          </a:xfrm>
          <a:prstGeom prst="ellipse">
            <a:avLst/>
          </a:prstGeom>
          <a:solidFill>
            <a:srgbClr val="FF5A5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137160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Simulador de Ecossistema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530352" y="2697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Objetos em C++17 com SFML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0352" y="320040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9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Plantas, presas e predadores interagindo em tempo real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B9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herança, polimorfismo e comportamento emergente.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0352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Seu nome  ·  Disciplina  ·  Data 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projeto em uma tela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cadeia alimentar simulada: plantas crescem e se espalham, presas forrageiam em bando e fogem, predadores caçam com perseguição preditiva. Tudo emerge da interação entre objetos autônomos.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2121408"/>
            <a:ext cx="310896" cy="310896"/>
          </a:xfrm>
          <a:prstGeom prst="rect">
            <a:avLst/>
          </a:prstGeom>
          <a:solidFill>
            <a:srgbClr val="2EB8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665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 </a:t>
            </a:r>
            <a:pPr algn="l" indent="0" marL="0">
              <a:buNone/>
            </a:pPr>
            <a:r>
              <a:rPr lang="en-US" sz="12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quadrado verde — cresce em clusters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88336"/>
            <a:ext cx="310896" cy="310896"/>
          </a:xfrm>
          <a:prstGeom prst="ellipse">
            <a:avLst/>
          </a:prstGeom>
          <a:solidFill>
            <a:srgbClr val="64B4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334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  </a:t>
            </a:r>
            <a:pPr algn="l" indent="0" marL="0">
              <a:buNone/>
            </a:pPr>
            <a:r>
              <a:rPr lang="en-US" sz="12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— forrageia e foge em bando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55264"/>
            <a:ext cx="310896" cy="310896"/>
          </a:xfrm>
          <a:prstGeom prst="triangle">
            <a:avLst/>
          </a:prstGeom>
          <a:solidFill>
            <a:srgbClr val="FF5A5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Predador  </a:t>
            </a:r>
            <a:pPr algn="l" indent="0" marL="0">
              <a:buNone/>
            </a:pPr>
            <a:r>
              <a:rPr lang="en-US" sz="12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 — caça a presa mais vantajosa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60×60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na grade espacial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10/s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7452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de simulação (até 8x)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ajustáveis ao vivo</a:t>
            </a:r>
            <a:endParaRPr lang="en-US" sz="950" dirty="0"/>
          </a:p>
        </p:txBody>
      </p:sp>
      <p:pic>
        <p:nvPicPr>
          <p:cNvPr id="16" name="Image 0" descr="C:\Users\vitor\OneDrive\Documentos\IME - SE9\3.1\Lab_Prog_01\projetoEcossistema/slides_img/simu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14400"/>
            <a:ext cx="3977640" cy="29809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709160" y="39684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simulação em execução: grid, painel de estatísticas, gráfico de populações e sliders.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em camadas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383280" y="960120"/>
            <a:ext cx="2377440" cy="566928"/>
          </a:xfrm>
          <a:prstGeom prst="roundRect">
            <a:avLst>
              <a:gd name="adj" fmla="val 8065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383280" y="960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main.cpp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principal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527048"/>
            <a:ext cx="-914400" cy="256032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77840" y="1527048"/>
            <a:ext cx="914400" cy="256032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1783080"/>
            <a:ext cx="2743200" cy="713232"/>
          </a:xfrm>
          <a:prstGeom prst="roundRect">
            <a:avLst>
              <a:gd name="adj" fmla="val 6410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Renderer + UI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janela SFML, painel, sliders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783080"/>
            <a:ext cx="2743200" cy="713232"/>
          </a:xfrm>
          <a:prstGeom prst="roundRect">
            <a:avLst>
              <a:gd name="adj" fmla="val 6410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7830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tick, grade espacial, reprodução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2496312"/>
            <a:ext cx="0" cy="338328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2834640"/>
            <a:ext cx="3840480" cy="713232"/>
          </a:xfrm>
          <a:prstGeom prst="roundRect">
            <a:avLst>
              <a:gd name="adj" fmla="val 641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346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Organismos (polimórficos)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vector&lt;unique_ptr&lt;Organismo&gt;&gt;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3547872"/>
            <a:ext cx="-548640" cy="338328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0" y="3547872"/>
            <a:ext cx="0" cy="338328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3547872"/>
            <a:ext cx="182880" cy="338328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38862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B8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8862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7B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388620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3886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Predador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6974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separado da lógica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simula sem saber que existe tela: o modo terminal usa o mesmo WorldManager.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acoplamento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Renderer só conhece a interface pública do mundo; os organismos não conhecem a UI.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quatro pilares da POO no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40233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117043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1288" y="1170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627632"/>
            <a:ext cx="3621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é uma classe abstrata: define O QUE todo ser vivo faz (agir, mover, desenhar), sem dizer COMO. Cada espécie preenche o contrato.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0233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82312" y="117043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76088" y="1170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Herança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18888" y="1627632"/>
            <a:ext cx="3621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em dois níveis: Organismo → Planta e Organismo → Animal → Presa / Predador. Animal concentra o que é comum a quem se move.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40233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3090672"/>
            <a:ext cx="384048" cy="384048"/>
          </a:xfrm>
          <a:prstGeom prst="ellipse">
            <a:avLst/>
          </a:prstGeom>
          <a:solidFill>
            <a:srgbClr val="2B7BC4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1288" y="30906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Polimorfismo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" y="3547872"/>
            <a:ext cx="3621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loop trata todos: org-&gt;agir(world) despacha dinamicamente para o comportamento da espécie. Sem if (tipo == ...) na lógica central.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40233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82312" y="309067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76088" y="30906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Encapsulamento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8888" y="3547872"/>
            <a:ext cx="3621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interno protegido com invariantes: ninguém altera energia diretamente — consumirEnergia() garante que energia ≤ 0 ⇒ morte.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Abstração — o contrato de todo ser vivo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846320" cy="3657600"/>
          </a:xfrm>
          <a:prstGeom prst="roundRect">
            <a:avLst>
              <a:gd name="adj" fmla="val 1500"/>
            </a:avLst>
          </a:prstGeom>
          <a:solidFill>
            <a:srgbClr val="1E241E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9966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src/core/Organismo.hpp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9304"/>
            <a:ext cx="4626864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Organismo {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x, y, energia;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idade;  bool vivo;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metodos virtuais puros: cada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especie DEVE implementar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agir(WorldManager&amp;)  = 0;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mover(WorldManager&amp;) = 0;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desenhar(...) const  = 0;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TipoOrganismo getTipo() const = 0;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float getEnergiaParaReproducao() const = 0;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destrutor virtual: essencial!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~Organismo() = default;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77840" y="107899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0" y="1078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00584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não implementação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um Organismo não precisa saber se é planta ou predador — só que ele sabe agir, mover e se desenhar.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577840" y="228600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212848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obriga as filhas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virtuais puros tornam a classe abstrata: é impossível instanciar um “ser vivo genérico”.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577840" y="349300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3493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419856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Destrutor virtual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Essencial: os objetos são destruídos via ponteiro para a base — sem ele, seria comportamento indefinido.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Herança — especializar sem repetir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25880" y="96012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9601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Organismo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527048"/>
            <a:ext cx="-457200" cy="530352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6080" y="1527048"/>
            <a:ext cx="457200" cy="530352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2EB8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Planta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se move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2057400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20574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Animal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velocidade, visão, vx/vy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2624328"/>
            <a:ext cx="-411480" cy="530352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77640" y="2624328"/>
            <a:ext cx="411480" cy="530352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83080" y="31546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2B7BC4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31546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Presa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forrageia, foge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31546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B8312F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31546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Predador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caça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é uma base intermediária: concentra física de movimento (aplicarForca), visão e velocidade. Planta herda direto de Organismo — não paga pelo que não usa.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23560" y="960120"/>
            <a:ext cx="3154680" cy="3657600"/>
          </a:xfrm>
          <a:prstGeom prst="roundRect">
            <a:avLst>
              <a:gd name="adj" fmla="val 1739"/>
            </a:avLst>
          </a:prstGeom>
          <a:solidFill>
            <a:srgbClr val="1E241E"/>
          </a:solidFill>
          <a:ln/>
        </p:spPr>
      </p:sp>
      <p:sp>
        <p:nvSpPr>
          <p:cNvPr id="19" name="Text 17"/>
          <p:cNvSpPr/>
          <p:nvPr/>
        </p:nvSpPr>
        <p:spPr>
          <a:xfrm>
            <a:off x="5733288" y="99669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src/entities/Presa.cpp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33288" y="1289304"/>
            <a:ext cx="2935224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construtor encadeia a base: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Presa::Presa(float x, float y)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Animal(x, y,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ENERGIA_INICIAL,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COOLDOWN_REPRODUCAO,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VELOCIDADE, RAIO_VISAO) {}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Animal encadeia Organismo: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Animal::Animal(...)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Organismo(x, y, energia,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cooldown),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velocidade(velocidade),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raioVisao(raioVisao) {}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Polimorfismo — um loop para todos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1E241E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9966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src/core/WorldManager.cpp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9304"/>
            <a:ext cx="407822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mundo nao sabe quem e quem: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(auto&amp; org : organismos) {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(org-&gt;estaVivo()) {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org-&gt;agir(*this);   // despacho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org-&gt;mover(*this);  // dinamico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chamada org-&gt;desenhar(...) produz três formas diferentes — é o que aparece na tela: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274320" cy="274320"/>
          </a:xfrm>
          <a:prstGeom prst="rect">
            <a:avLst/>
          </a:prstGeom>
          <a:solidFill>
            <a:srgbClr val="2EB8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Planta::desenhar → RectangleShape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4114800"/>
            <a:ext cx="274320" cy="274320"/>
          </a:xfrm>
          <a:prstGeom prst="ellipse">
            <a:avLst/>
          </a:prstGeom>
          <a:solidFill>
            <a:srgbClr val="64B4F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69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Presa::desenhar → CircleShape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4526280"/>
            <a:ext cx="274320" cy="274320"/>
          </a:xfrm>
          <a:prstGeom prst="triangle">
            <a:avLst/>
          </a:prstGeom>
          <a:solidFill>
            <a:srgbClr val="FF5A5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480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Predador::desenhar → ConvexShape rotacionado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960120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1E241E"/>
          </a:solidFill>
          <a:ln/>
        </p:spPr>
      </p:sp>
      <p:sp>
        <p:nvSpPr>
          <p:cNvPr id="14" name="Text 12"/>
          <p:cNvSpPr/>
          <p:nvPr/>
        </p:nvSpPr>
        <p:spPr>
          <a:xfrm>
            <a:off x="5184648" y="9966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identificação sem dynamic_cast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84648" y="1289304"/>
            <a:ext cx="3438144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cada classe responde quem e: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TipoOrganismo Presa::getTipo()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override {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TipoOrganismo::Presa;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parametros por especie: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getEnergiaParaReproducao()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override {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40.0f;  // Presa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// Predador retorna 55.0f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pega erros em compilação; a reprodução no WorldManager usa esses getters polimórficos sem conhecer as espécies.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Encapsulamento — invariantes protegidas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160520" cy="2331720"/>
          </a:xfrm>
          <a:prstGeom prst="roundRect">
            <a:avLst>
              <a:gd name="adj" fmla="val 2353"/>
            </a:avLst>
          </a:prstGeom>
          <a:solidFill>
            <a:srgbClr val="1E241E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9966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src/core/Organismo.cpp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9304"/>
            <a:ext cx="39410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Organismo::consumirEnergia(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quantidade) {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energia -= quantidade;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(energia &lt;= 0) {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energia = 0;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vivo = false;  // invariante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lnSpc>
                <a:spcPts val="1416"/>
              </a:lnSpc>
              <a:buNone/>
            </a:pPr>
            <a:r>
              <a:rPr lang="en-US" sz="12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42900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1E241E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34655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src/core/WorldManager.hpp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3758184"/>
            <a:ext cx="3941064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ninguem fora ve a grade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std::vector&lt;std::vector&lt;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Organismo*&gt;&gt; gradeEspacial;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83480" y="978408"/>
            <a:ext cx="374904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10515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morre junto com a regra
</a:t>
            </a:r>
            <a:endParaRPr lang="en-US" sz="13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 vivo são protected. A ÚNICA porta de entrada é consumirEnergia() — é impossível um organismo ficar com energia negativa e “vivo”.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2258568"/>
            <a:ext cx="374904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2331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interna trocável
</a:t>
            </a:r>
            <a:endParaRPr lang="en-US" sz="13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espacial é private: o resto do código usa obterVizinhos(). A otimização de O(n) para O(1) foi feita sem tocar nas espécies.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538728"/>
            <a:ext cx="374904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3611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sem escrita
</a:t>
            </a:r>
            <a:endParaRPr lang="en-US" sz="13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const (getX, getEnergia, getOrganismos) expõem o estado para o Renderer sem permitir modificação.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Composição, RAII e o padrão Factory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663440" cy="2286000"/>
          </a:xfrm>
          <a:prstGeom prst="roundRect">
            <a:avLst>
              <a:gd name="adj" fmla="val 2400"/>
            </a:avLst>
          </a:prstGeom>
          <a:solidFill>
            <a:srgbClr val="1E241E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9966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src/core/OrganismoFactory.cpp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9304"/>
            <a:ext cx="444398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std::unique_ptr&lt;Organismo&gt;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OrganismoFactory::criar(TipoOrganismo t,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float x, float y) {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(t) {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TipoOrganismo::Planta: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std::make_unique&lt;Planta&gt;(x, y);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TipoOrganismo::Presa: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std::make_unique&lt;Presa&gt;(x, y);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TipoOrganismo::Predador: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std::make_unique&lt;Predador&gt;(x, y);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1E241E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341985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posse exclusiva — sem new/delete manuais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3712464"/>
            <a:ext cx="4443984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WorldManager COMPOE os organismos: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std::vector&lt;std::unique_ptr&lt;Organismo&gt;&gt;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organismos;  // destruicao automatica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05156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ponto cria qualquer espécie. A reprodução chama criar(org-&gt;getTipo(), x, y) — funciona para uma espécie nova sem mudar o WorldManager.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0" y="233172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 com unique_ptr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é dono dos organismos: quando um morre e sai do vector, a memória é liberada — zero vazamentos, zero delete.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0" y="36118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vs. herança
</a:t>
            </a:r>
            <a:endParaRPr lang="en-US" sz="13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WorldManager TEM organismos (composição); Presa É UM Animal (herança). Cada relação no mecanismo certo.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Comportamento por máquina de estados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91840" cy="1554480"/>
          </a:xfrm>
          <a:prstGeom prst="roundRect">
            <a:avLst>
              <a:gd name="adj" fmla="val 3529"/>
            </a:avLst>
          </a:prstGeom>
          <a:solidFill>
            <a:srgbClr val="1E241E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996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src/core/Animal.hpp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9304"/>
            <a:ext cx="307238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EstadoAgente {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WANDERING,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HUNTING,   // predador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FORAGING,  // presa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FLEEING    // presa</a:t>
            </a:r>
            <a:endParaRPr lang="en-US" sz="115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15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animal decide em agir() e executa em mover(). A transição depende do que ele vê na vizinhança — e fugir custa 1,5x mais energia.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Espaço para imagem/zoom de presas fugindo em bando — opcional 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886200"/>
            <a:ext cx="3291840" cy="777240"/>
          </a:xfrm>
          <a:prstGeom prst="roundRect">
            <a:avLst>
              <a:gd name="adj" fmla="val 5882"/>
            </a:avLst>
          </a:prstGeom>
          <a:ln w="12700">
            <a:solidFill>
              <a:srgbClr val="6B7A6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206240" y="914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FSM da Presa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WANDERING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vagar (flocking)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3258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2EB82E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FORAGING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buscar planta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23317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5A5A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FLEEING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fugir (evade)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731520" cy="0"/>
          </a:xfrm>
          <a:prstGeom prst="line">
            <a:avLst/>
          </a:prstGeom>
          <a:noFill/>
          <a:ln w="2222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49440" y="1691640"/>
            <a:ext cx="-731520" cy="0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0" y="1874520"/>
            <a:ext cx="731520" cy="457200"/>
          </a:xfrm>
          <a:prstGeom prst="line">
            <a:avLst/>
          </a:prstGeom>
          <a:noFill/>
          <a:ln w="22225">
            <a:solidFill>
              <a:srgbClr val="FF5A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0" y="1874520"/>
            <a:ext cx="-731520" cy="457200"/>
          </a:xfrm>
          <a:prstGeom prst="line">
            <a:avLst/>
          </a:prstGeom>
          <a:noFill/>
          <a:ln w="22225">
            <a:solidFill>
              <a:srgbClr val="FF5A5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10789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viu planta → / ← sem plantas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52160" y="2898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predador à vista 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06240" y="3154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FSM do Predador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356616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WANDERING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patrulhar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9440" y="356616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B8312F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HUNTING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pursue preditivo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3767328"/>
            <a:ext cx="731520" cy="0"/>
          </a:xfrm>
          <a:prstGeom prst="line">
            <a:avLst/>
          </a:prstGeom>
          <a:noFill/>
          <a:ln w="22225">
            <a:solidFill>
              <a:srgbClr val="B8312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9440" y="3950208"/>
            <a:ext cx="-731520" cy="0"/>
          </a:xfrm>
          <a:prstGeom prst="line">
            <a:avLst/>
          </a:prstGeom>
          <a:noFill/>
          <a:ln w="22225">
            <a:solidFill>
              <a:srgbClr val="6B7A6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434840" y="4160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 no raio de visão →   /   ← alvo perdido ou comido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Steering → comportamento emergente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931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058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seek / flee   </a:t>
            </a:r>
            <a:pPr algn="l" indent="0" marL="0">
              <a:buNone/>
            </a:pPr>
            <a:r>
              <a:rPr lang="en-US" sz="110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até um alvo / afastar-se dele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31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1907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pursue / evade   </a:t>
            </a:r>
            <a:pPr algn="l" indent="0" marL="0">
              <a:buNone/>
            </a:pPr>
            <a:r>
              <a:rPr lang="en-US" sz="110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 a posição futura do alvo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32304"/>
            <a:ext cx="3931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432304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wander   </a:t>
            </a:r>
            <a:pPr algn="l" indent="0" marL="0">
              <a:buNone/>
            </a:pPr>
            <a:r>
              <a:rPr lang="en-US" sz="110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vagueio suave com jitter aleatório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145536"/>
            <a:ext cx="3931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145536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flocking   </a:t>
            </a:r>
            <a:pPr algn="l" indent="0" marL="0">
              <a:buNone/>
            </a:pPr>
            <a:r>
              <a:rPr lang="en-US" sz="1100" dirty="0">
                <a:solidFill>
                  <a:srgbClr val="39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+ alinhamento + coesão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de código diz “formem bandos” ou “cresçam em moitas” — isso emerge das regras locais de cada objeto.</a:t>
            </a:r>
            <a:endParaRPr lang="en-US" sz="1200" dirty="0"/>
          </a:p>
        </p:txBody>
      </p:sp>
      <p:pic>
        <p:nvPicPr>
          <p:cNvPr id="12" name="Image 0" descr="C:\Users\vitor\OneDrive\Documentos\IME - SE9\3.1\Lab_Prog_01\projetoEcossistema/slides_img/simulacao_tar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3977640" cy="29809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0" y="401421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de plantas e o gráfico predador–presa (ciclo de Lotka-Volterra) — tudo emergente.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Engenharia além da POO: desempenho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0,07 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tick com ~700 organismos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(medido com -O2)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1155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O(1)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vizinhos via grade espacial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(antes: varredura O(n))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00584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1155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~2100 → 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72200" y="17373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calls por frame com batching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sf::VertexArray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1E241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7797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validação de ponteiros O(1) — encapsulada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3072384"/>
            <a:ext cx="4992624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alvos guardados entre ticks podem morrer;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conjunto de vivos valida em O(1):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std::unordered_set&lt;const Organismo*&gt; vivosSet;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organismoExisteEVivo(const Organismo* p) {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A9D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vivosSet.count(p) &amp;&amp; p-&gt;estaVivo();</a:t>
            </a:r>
            <a:endParaRPr lang="en-US" sz="1100" dirty="0"/>
          </a:p>
          <a:p>
            <a:pPr algn="l" indent="0" marL="0">
              <a:lnSpc>
                <a:spcPts val="1298"/>
              </a:lnSpc>
              <a:buNone/>
            </a:pPr>
            <a:r>
              <a:rPr lang="en-US" sz="1100" dirty="0">
                <a:solidFill>
                  <a:srgbClr val="E8E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83464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pagou aqui: 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troca de O(n) para O(1) aconteceu dentro do WorldManager — nenhuma espécie precisou mudar.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Demonstração</a:t>
            </a:r>
            <a:endParaRPr lang="en-US" sz="3000" dirty="0"/>
          </a:p>
        </p:txBody>
      </p:sp>
      <p:pic>
        <p:nvPicPr>
          <p:cNvPr id="3" name="Image 0" descr="C:\Users\vitor\OneDrive\Documentos\IME - SE9\3.1\Lab_Prog_01\projetoEcossistema/slides_img/tela_in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4206240" cy="3154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inicial: o usuário escolhe as populações antes de começar.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749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Controles ao vivo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74920" y="14173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1417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Espaço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/ retoma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74920" y="18745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1874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1x → 2x → 4x → 8x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74920" y="23317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no grid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920" y="27889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5074920" y="2788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a câmera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74920" y="32461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5074920" y="3246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parâmetros em tempo real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37033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92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7492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subir “Reprod. Presa” e ver a população de predadores responder no gráfico.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Ecossistema — POO em C++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82880" cy="182880"/>
          </a:xfrm>
          <a:prstGeom prst="ellipse">
            <a:avLst/>
          </a:prstGeom>
          <a:solidFill>
            <a:srgbClr val="2EB82E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" y="502920"/>
            <a:ext cx="182880" cy="182880"/>
          </a:xfrm>
          <a:prstGeom prst="ellipse">
            <a:avLst/>
          </a:prstGeom>
          <a:solidFill>
            <a:srgbClr val="64B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502920"/>
            <a:ext cx="182880" cy="182880"/>
          </a:xfrm>
          <a:prstGeom prst="ellipse">
            <a:avLst/>
          </a:prstGeom>
          <a:solidFill>
            <a:srgbClr val="FF5A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POO comprou neste projeto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633472" cy="2103120"/>
          </a:xfrm>
          <a:prstGeom prst="roundRect">
            <a:avLst>
              <a:gd name="adj" fmla="val 2609"/>
            </a:avLst>
          </a:prstGeom>
          <a:solidFill>
            <a:srgbClr val="1D331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874520"/>
            <a:ext cx="23042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Extensibilidade
</a:t>
            </a:r>
            <a:endParaRPr lang="en-US" sz="15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espécie nova (ex.: necrófago) = uma subclasse nova. O loop do mundo, a fábrica e o renderer já estão prontos para ela.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2633472" cy="2103120"/>
          </a:xfrm>
          <a:prstGeom prst="roundRect">
            <a:avLst>
              <a:gd name="adj" fmla="val 2609"/>
            </a:avLst>
          </a:prstGeom>
          <a:solidFill>
            <a:srgbClr val="1D331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874520"/>
            <a:ext cx="23042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localizada
</a:t>
            </a:r>
            <a:endParaRPr lang="en-US" sz="15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IA da presa não toca o predador; otimizar a grade não toca as espécies. Cada mudança tem um endereço.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35624" y="1691640"/>
            <a:ext cx="2633472" cy="2103120"/>
          </a:xfrm>
          <a:prstGeom prst="roundRect">
            <a:avLst>
              <a:gd name="adj" fmla="val 2609"/>
            </a:avLst>
          </a:prstGeom>
          <a:solidFill>
            <a:srgbClr val="1D331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874520"/>
            <a:ext cx="23042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emergente
</a:t>
            </a:r>
            <a:endParaRPr lang="en-US" sz="15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simples + regras locais + polimorfismo = ciclos populacionais que ninguém programou explicitamente.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Seu nome  ·  contato / repositório GitHub 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2026-06-11T11:45:03Z</dcterms:created>
  <dcterms:modified xsi:type="dcterms:W3CDTF">2026-06-11T11:45:03Z</dcterms:modified>
</cp:coreProperties>
</file>